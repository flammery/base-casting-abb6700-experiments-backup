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3b6d3af0ea4b7f" /><Relationship Type="http://schemas.openxmlformats.org/officeDocument/2006/relationships/extended-properties" Target="/docProps/app.xml" Id="Rbc37c3d3dbc14c40" /><Relationship Type="http://schemas.openxmlformats.org/officeDocument/2006/relationships/officeDocument" Target="/ppt/presentation.xml" Id="R123d8095246943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5baebea5164a23"/>
  </p:sldMasterIdLst>
  <p:notesMasterIdLst>
    <p:notesMasterId xmlns:r="http://schemas.openxmlformats.org/officeDocument/2006/relationships" r:id="R51fdf57668e1428b"/>
  </p:notesMasterIdLst>
  <p:sldIdLst>
    <p:sldId xmlns:r="http://schemas.openxmlformats.org/officeDocument/2006/relationships" id="256" r:id="R0e4c38636c4a4e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279f43387349bc" /><Relationship Type="http://schemas.openxmlformats.org/officeDocument/2006/relationships/slideMaster" Target="/ppt/slideMasters/slideMaster1.xml" Id="R445baebea5164a23" /><Relationship Type="http://schemas.openxmlformats.org/officeDocument/2006/relationships/notesMaster" Target="/ppt/notesMasters/notesMaster1.xml" Id="R51fdf57668e1428b" /><Relationship Type="http://schemas.openxmlformats.org/officeDocument/2006/relationships/presProps" Target="/ppt/presProps.xml" Id="R972f9aad59a741e1" /><Relationship Type="http://schemas.openxmlformats.org/officeDocument/2006/relationships/tableStyles" Target="/ppt/tableStyles.xml" Id="R35c340507e71496b" /><Relationship Type="http://schemas.openxmlformats.org/officeDocument/2006/relationships/slide" Target="/ppt/slides/slide1.xml" Id="R0e4c38636c4a4e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20dd72909c46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b144bbf2404b58" /><Relationship Type="http://schemas.openxmlformats.org/officeDocument/2006/relationships/notesMaster" Target="/ppt/notesMasters/notesMaster1.xml" Id="Re2a47ee997494c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 Auto 如何在普通 raster 与 hole-aware 之间分流，以及 cell 抬刀如何形成安全的跨区连接。</a:t>
            </a:r>
          </a:p>
          <a:p xmlns:a="http://schemas.openxmlformats.org/drawingml/2006/main">
            <a:r>
              <a:t>强调：exclude-overlap 与 split-scanline 都会选择 hole-aware；regular 分支只有在二者都不成立时使用。</a:t>
            </a:r>
          </a:p>
          <a:p xmlns:a="http://schemas.openxmlformats.org/drawingml/2006/main">
            <a:r>
              <a:t>强调：150 mm 是当前 SAFE_DISTANCE；MoveL 用于局部接近/退刀，MoveJ 用于离面 cell 间转移。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document: C:/Users/21093/Desktop/p1/experiments/base_casting_abb6700/HOLE_AWARE_PLANNER.md</a:t>
            </a:r>
          </a:p>
          <a:p xmlns:a="http://schemas.openxmlformats.org/drawingml/2006/main">
            <a:r>
              <a:t>- Project document: C:/Users/21093/Desktop/p1/experiments/base_casting_abb6700/docs/AUTO_HOLE_CLASSIFICATION_LEARNING_GUIDE.md</a:t>
            </a:r>
          </a:p>
          <a:p xmlns:a="http://schemas.openxmlformats.org/drawingml/2006/main">
            <a:r>
              <a:t>- Project document: C:/Users/21093/Desktop/p1/experiments/base_casting_abb6700/docs/HOLE_AWARE_ALGORITHM_LEARNING_GUIDE.md</a:t>
            </a:r>
          </a:p>
          <a:p xmlns:a="http://schemas.openxmlformats.org/drawingml/2006/main">
            <a:r>
              <a:t>- Project code: C:/Users/21093/Desktop/p1/experiments/base_casting_abb6700/scripts/window_conf_export.py</a:t>
            </a:r>
          </a:p>
          <a:p xmlns:a="http://schemas.openxmlformats.org/drawingml/2006/main">
            <a:r>
              <a:t>- Project code: C:/Users/21093/Desktop/p1/experiments/base_casting_abb6700/scripts/raster_domain.py</a:t>
            </a:r>
          </a:p>
          <a:p xmlns:a="http://schemas.openxmlformats.org/drawingml/2006/main">
            <a:r>
              <a:t>- Project code: C:/Users/21093/Desktop/p1/experiments/base_casting_abb6700/experimental_algorithms/hole_aware_raster.py</a:t>
            </a:r>
          </a:p>
          <a:p xmlns:a="http://schemas.openxmlformats.org/drawingml/2006/main">
            <a:r>
              <a:t>- User-provided visual reference: C:/Users/21093/AppData/Local/Temp/codex-clipboard-693a8edf-2375-4bdc-8226-dba2b77bdd3d.png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de916d4ec42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a02e2bc7fb430c" /><Relationship Type="http://schemas.openxmlformats.org/officeDocument/2006/relationships/slideLayout" Target="/ppt/slideLayouts/slideLayout1.xml" Id="Rb71fb4b082db4e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1fb4b082db4e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05d8ea52446c1" /><Relationship Type="http://schemas.openxmlformats.org/officeDocument/2006/relationships/notesSlide" Target="/ppt/notesSlides/notesSlide1.xml" Id="R5a43546a8c3144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668666-172F-4A0C-B981-098497B0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Auto 避孔判定与 Cell 抬刀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00E760A-2A8F-49EC-96F8-4B941489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66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Auto 只负责选择 regular / hole-aware 路径；跨 Cell 安全连接由局部法向抬刀完成。</a:t>
            </a:r>
          </a:p>
        </p:txBody>
      </p:sp>
      <p:sp>
        <p:nvSpPr>
          <p:cNvPr id="3" name="input-clip-polygon">
            <a:extLst xmlns:a="http://schemas.openxmlformats.org/drawingml/2006/main">
              <a:ext uri="{FF2B5EF4-FFF2-40B4-BE49-F238E27FC236}">
                <a16:creationId xmlns:a16="http://schemas.microsoft.com/office/drawing/2014/main" id="{3AEB5D6D-A272-4FE0-A519-C3E5B047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47750"/>
            <a:ext cx="2133600" cy="4000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7F2DF"/>
          </a:solidFill>
          <a:ln xmlns:a="http://schemas.openxmlformats.org/drawingml/2006/main" w="13335">
            <a:solidFill>
              <a:srgbClr val="8FB27C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64887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clip_polygon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当前加工边界</a:t>
            </a:r>
          </a:p>
        </p:txBody>
      </p:sp>
      <p:sp>
        <p:nvSpPr>
          <p:cNvPr id="4" name="input-exclude-polygons">
            <a:extLst xmlns:a="http://schemas.openxmlformats.org/drawingml/2006/main">
              <a:ext uri="{FF2B5EF4-FFF2-40B4-BE49-F238E27FC236}">
                <a16:creationId xmlns:a16="http://schemas.microsoft.com/office/drawing/2014/main" id="{C086833D-E6E3-4A8B-8117-5876D61D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047750"/>
            <a:ext cx="2133600" cy="4000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7F2DF"/>
          </a:solidFill>
          <a:ln xmlns:a="http://schemas.openxmlformats.org/drawingml/2006/main" w="13335">
            <a:solidFill>
              <a:srgbClr val="8FB27C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64887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exclude_polygons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孔洞 / 禁入区</a:t>
            </a:r>
          </a:p>
        </p:txBody>
      </p:sp>
      <p:sp>
        <p:nvSpPr>
          <p:cNvPr id="5" name="input-surface-mesh">
            <a:extLst xmlns:a="http://schemas.openxmlformats.org/drawingml/2006/main">
              <a:ext uri="{FF2B5EF4-FFF2-40B4-BE49-F238E27FC236}">
                <a16:creationId xmlns:a16="http://schemas.microsoft.com/office/drawing/2014/main" id="{B7D13FAF-D043-4E40-80F9-997F3F7B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047750"/>
            <a:ext cx="2133600" cy="4000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7F2DF"/>
          </a:solidFill>
          <a:ln xmlns:a="http://schemas.openxmlformats.org/drawingml/2006/main" w="13335">
            <a:solidFill>
              <a:srgbClr val="8FB27C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64887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selected STL cells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用于 raycast</a:t>
            </a:r>
          </a:p>
        </p:txBody>
      </p:sp>
      <p:sp>
        <p:nvSpPr>
          <p:cNvPr id="6" name="input-auto-mode">
            <a:extLst xmlns:a="http://schemas.openxmlformats.org/drawingml/2006/main">
              <a:ext uri="{FF2B5EF4-FFF2-40B4-BE49-F238E27FC236}">
                <a16:creationId xmlns:a16="http://schemas.microsoft.com/office/drawing/2014/main" id="{F468B2D0-EC35-40C5-963D-CFDBBD4B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047750"/>
            <a:ext cx="2133600" cy="4000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7F2DF"/>
          </a:solidFill>
          <a:ln xmlns:a="http://schemas.openxmlformats.org/drawingml/2006/main" w="13335">
            <a:solidFill>
              <a:srgbClr val="8FB27C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64887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planner_mode = auto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扫描参数</a:t>
            </a:r>
          </a:p>
        </p:txBody>
      </p:sp>
      <p:sp>
        <p:nvSpPr>
          <p:cNvPr id="7" name="auto-planner-container">
            <a:extLst xmlns:a="http://schemas.openxmlformats.org/drawingml/2006/main">
              <a:ext uri="{FF2B5EF4-FFF2-40B4-BE49-F238E27FC236}">
                <a16:creationId xmlns:a16="http://schemas.microsoft.com/office/drawing/2014/main" id="{F8FCD6B9-5BF0-4AB2-8508-ED845BAC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81150"/>
            <a:ext cx="11468100" cy="4533900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15240">
            <a:solidFill>
              <a:srgbClr val="E4A12D"/>
            </a:solidFill>
            <a:prstDash val="solid"/>
          </a:ln>
        </p:spPr>
      </p:sp>
      <p:sp>
        <p:nvSpPr>
          <p:cNvPr id="8" name="auto-routing-frame">
            <a:extLst xmlns:a="http://schemas.openxmlformats.org/drawingml/2006/main">
              <a:ext uri="{FF2B5EF4-FFF2-40B4-BE49-F238E27FC236}">
                <a16:creationId xmlns:a16="http://schemas.microsoft.com/office/drawing/2014/main" id="{83A891AF-1413-4C7E-9D69-BC0727D1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4648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33333"/>
            </a:solidFill>
            <a:prstDash val="solid"/>
          </a:ln>
        </p:spPr>
      </p:sp>
      <p:sp>
        <p:nvSpPr>
          <p:cNvPr id="9" name="cell-strategy-frame">
            <a:extLst xmlns:a="http://schemas.openxmlformats.org/drawingml/2006/main">
              <a:ext uri="{FF2B5EF4-FFF2-40B4-BE49-F238E27FC236}">
                <a16:creationId xmlns:a16="http://schemas.microsoft.com/office/drawing/2014/main" id="{B25C7AF5-2A97-405D-8312-B3AFAD46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38350"/>
            <a:ext cx="61150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33333"/>
            </a:solidFill>
            <a:prstDash val="solid"/>
          </a:ln>
        </p:spPr>
      </p:sp>
      <p:sp>
        <p:nvSpPr>
          <p:cNvPr id="10" name="auto-planner-label">
            <a:extLst xmlns:a="http://schemas.openxmlformats.org/drawingml/2006/main">
              <a:ext uri="{FF2B5EF4-FFF2-40B4-BE49-F238E27FC236}">
                <a16:creationId xmlns:a16="http://schemas.microsoft.com/office/drawing/2014/main" id="{E7A0A1D5-4B4C-4BC1-B6EE-7F4718FA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Auto Planner</a:t>
            </a:r>
          </a:p>
        </p:txBody>
      </p:sp>
      <p:sp>
        <p:nvSpPr>
          <p:cNvPr id="11" name="left-frame-label">
            <a:extLst xmlns:a="http://schemas.openxmlformats.org/drawingml/2006/main">
              <a:ext uri="{FF2B5EF4-FFF2-40B4-BE49-F238E27FC236}">
                <a16:creationId xmlns:a16="http://schemas.microsoft.com/office/drawing/2014/main" id="{0AC8E538-0184-41D2-A92B-53FB577F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A. Auto 分流</a:t>
            </a:r>
          </a:p>
        </p:txBody>
      </p:sp>
      <p:sp>
        <p:nvSpPr>
          <p:cNvPr id="12" name="right-frame-label">
            <a:extLst xmlns:a="http://schemas.openxmlformats.org/drawingml/2006/main">
              <a:ext uri="{FF2B5EF4-FFF2-40B4-BE49-F238E27FC236}">
                <a16:creationId xmlns:a16="http://schemas.microsoft.com/office/drawing/2014/main" id="{431B2414-75D1-4543-9F05-C2F1D5E9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B. Hole-aware Cell 策略</a:t>
            </a:r>
          </a:p>
        </p:txBody>
      </p:sp>
      <p:sp>
        <p:nvSpPr>
          <p:cNvPr id="13" name="read-region">
            <a:extLst xmlns:a="http://schemas.openxmlformats.org/drawingml/2006/main">
              <a:ext uri="{FF2B5EF4-FFF2-40B4-BE49-F238E27FC236}">
                <a16:creationId xmlns:a16="http://schemas.microsoft.com/office/drawing/2014/main" id="{428F84E7-8606-4B3C-8A3B-EFE079A9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315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13335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读取当前 planning region</a:t>
            </a:r>
          </a:p>
        </p:txBody>
      </p:sp>
      <p:sp>
        <p:nvSpPr>
          <p:cNvPr id="14" name="exclude-overlap-decision">
            <a:extLst xmlns:a="http://schemas.openxmlformats.org/drawingml/2006/main">
              <a:ext uri="{FF2B5EF4-FFF2-40B4-BE49-F238E27FC236}">
                <a16:creationId xmlns:a16="http://schemas.microsoft.com/office/drawing/2014/main" id="{5F70606D-133B-4F39-A7B5-CC6011C9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38450"/>
            <a:ext cx="2324100" cy="666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5989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exclude 与 clip</a:t>
            </a:r>
          </a:p>
          <a:p xmlns:a="http://schemas.openxmlformats.org/drawingml/2006/main">
            <a:pPr algn="ctr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有正面积重叠？</a:t>
            </a:r>
          </a:p>
        </p:txBody>
      </p:sp>
      <p:sp>
        <p:nvSpPr>
          <p:cNvPr id="15" name="generate-regular-raster">
            <a:extLst xmlns:a="http://schemas.openxmlformats.org/drawingml/2006/main">
              <a:ext uri="{FF2B5EF4-FFF2-40B4-BE49-F238E27FC236}">
                <a16:creationId xmlns:a16="http://schemas.microsoft.com/office/drawing/2014/main" id="{0F0B1DA6-61CB-47B0-9A7A-DAB94BD2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3855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13335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生成普通 raster</a:t>
            </a:r>
          </a:p>
        </p:txBody>
      </p:sp>
      <p:sp>
        <p:nvSpPr>
          <p:cNvPr id="16" name="split-scanline-decision">
            <a:extLst xmlns:a="http://schemas.openxmlformats.org/drawingml/2006/main">
              <a:ext uri="{FF2B5EF4-FFF2-40B4-BE49-F238E27FC236}">
                <a16:creationId xmlns:a16="http://schemas.microsoft.com/office/drawing/2014/main" id="{3EA0012F-F68A-40BB-BAB4-DA696D52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33850"/>
            <a:ext cx="2324100" cy="666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5989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同一扫描线存在</a:t>
            </a:r>
          </a:p>
          <a:p xmlns:a="http://schemas.openxmlformats.org/drawingml/2006/main">
            <a:pPr algn="ctr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多个有效 run？</a:t>
            </a:r>
          </a:p>
        </p:txBody>
      </p:sp>
      <p:sp>
        <p:nvSpPr>
          <p:cNvPr id="17" name="regular-output">
            <a:extLst xmlns:a="http://schemas.openxmlformats.org/drawingml/2006/main">
              <a:ext uri="{FF2B5EF4-FFF2-40B4-BE49-F238E27FC236}">
                <a16:creationId xmlns:a16="http://schemas.microsoft.com/office/drawing/2014/main" id="{1CCAD4E9-5832-4296-B301-D1E4C13C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14900"/>
            <a:ext cx="2933700" cy="381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0ECFF"/>
          </a:solidFill>
          <a:ln xmlns:a="http://schemas.openxmlformats.org/drawingml/2006/main" w="13335">
            <a:solidFill>
              <a:srgbClr val="8DAF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Regular raster PathResult</a:t>
            </a:r>
          </a:p>
        </p:txBody>
      </p:sp>
      <p:sp>
        <p:nvSpPr>
          <p:cNvPr id="18" name="subtract-exclude-intervals">
            <a:extLst xmlns:a="http://schemas.openxmlformats.org/drawingml/2006/main">
              <a:ext uri="{FF2B5EF4-FFF2-40B4-BE49-F238E27FC236}">
                <a16:creationId xmlns:a16="http://schemas.microsoft.com/office/drawing/2014/main" id="{7B1B0D23-F7F0-4BAA-8A5F-6831674C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scanline 扣除 exclude intervals</a:t>
            </a:r>
          </a:p>
        </p:txBody>
      </p:sp>
      <p:sp>
        <p:nvSpPr>
          <p:cNvPr id="19" name="split-and-group-cells">
            <a:extLst xmlns:a="http://schemas.openxmlformats.org/drawingml/2006/main">
              <a:ext uri="{FF2B5EF4-FFF2-40B4-BE49-F238E27FC236}">
                <a16:creationId xmlns:a16="http://schemas.microsoft.com/office/drawing/2014/main" id="{906822B8-12D8-4156-BEFC-04670870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ray miss 立即断开 run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相邻重叠 runs 组成 cell</a:t>
            </a:r>
          </a:p>
        </p:txBody>
      </p:sp>
      <p:sp>
        <p:nvSpPr>
          <p:cNvPr id="20" name="process-cell">
            <a:extLst xmlns:a="http://schemas.openxmlformats.org/drawingml/2006/main">
              <a:ext uri="{FF2B5EF4-FFF2-40B4-BE49-F238E27FC236}">
                <a16:creationId xmlns:a16="http://schemas.microsoft.com/office/drawing/2014/main" id="{7AF622B8-0F4A-4AA8-9E6A-D3340C91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13335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每个 cell 完整往复加工</a:t>
            </a:r>
          </a:p>
        </p:txBody>
      </p:sp>
      <p:sp>
        <p:nvSpPr>
          <p:cNvPr id="21" name="local-normal-retract">
            <a:extLst xmlns:a="http://schemas.openxmlformats.org/drawingml/2006/main">
              <a:ext uri="{FF2B5EF4-FFF2-40B4-BE49-F238E27FC236}">
                <a16:creationId xmlns:a16="http://schemas.microsoft.com/office/drawing/2014/main" id="{3166402E-37DB-4EE7-8F21-D7E1D2C4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417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端点沿局部表面法向退刀 150 mm</a:t>
            </a:r>
          </a:p>
        </p:txBody>
      </p:sp>
      <p:sp>
        <p:nvSpPr>
          <p:cNvPr id="22" name="movej-between-cells">
            <a:extLst xmlns:a="http://schemas.openxmlformats.org/drawingml/2006/main">
              <a:ext uri="{FF2B5EF4-FFF2-40B4-BE49-F238E27FC236}">
                <a16:creationId xmlns:a16="http://schemas.microsoft.com/office/drawing/2014/main" id="{B9345B30-3FE9-4DD8-AB24-06D5DB2B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38650"/>
            <a:ext cx="417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离面端点间 MoveJ → 下一 cell 接近点</a:t>
            </a:r>
          </a:p>
        </p:txBody>
      </p:sp>
      <p:sp>
        <p:nvSpPr>
          <p:cNvPr id="23" name="cell-output">
            <a:extLst xmlns:a="http://schemas.openxmlformats.org/drawingml/2006/main">
              <a:ext uri="{FF2B5EF4-FFF2-40B4-BE49-F238E27FC236}">
                <a16:creationId xmlns:a16="http://schemas.microsoft.com/office/drawing/2014/main" id="{2AE8EDD3-B230-4F4E-9D52-77C97FE9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53000"/>
            <a:ext cx="4019550" cy="3429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0ECFF"/>
          </a:solidFill>
          <a:ln xmlns:a="http://schemas.openxmlformats.org/drawingml/2006/main" w="13335">
            <a:solidFill>
              <a:srgbClr val="8DAF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Cell-lift PathResult</a:t>
            </a:r>
          </a:p>
        </p:txBody>
      </p:sp>
      <p:sp>
        <p:nvSpPr>
          <p:cNvPr id="24" name="planner-reason-output">
            <a:extLst xmlns:a="http://schemas.openxmlformats.org/drawingml/2006/main">
              <a:ext uri="{FF2B5EF4-FFF2-40B4-BE49-F238E27FC236}">
                <a16:creationId xmlns:a16="http://schemas.microsoft.com/office/drawing/2014/main" id="{FC536DD8-636D-4100-AC49-9C4460D3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966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0ECFF"/>
          </a:solidFill>
          <a:ln xmlns:a="http://schemas.openxmlformats.org/drawingml/2006/main" w="13335">
            <a:solidFill>
              <a:srgbClr val="8DAF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7851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planner_reason: regular-raster / exclude-overlap / split-scanline</a:t>
            </a:r>
          </a:p>
        </p:txBody>
      </p:sp>
      <p:sp>
        <p:nvSpPr>
          <p:cNvPr id="25" name="implementation-boundary">
            <a:extLst xmlns:a="http://schemas.openxmlformats.org/drawingml/2006/main">
              <a:ext uri="{FF2B5EF4-FFF2-40B4-BE49-F238E27FC236}">
                <a16:creationId xmlns:a16="http://schemas.microsoft.com/office/drawing/2014/main" id="{35391D38-49B9-4D8D-8634-7C36836F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96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3335">
            <a:solidFill>
              <a:srgbClr val="D38B20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6734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实现边界：不运行 A*，不生成跨孔的贴面 connector。</a:t>
            </a:r>
          </a:p>
        </p:txBody>
      </p:sp>
      <p:cxnSp>
        <p:nvCxnSpPr>
          <p:cNvPr id="74" name=""/>
          <p:cNvCxnSpPr>
            <a:stCxn xmlns:a="http://schemas.openxmlformats.org/drawingml/2006/main" id="3" idx="4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885950" y="1447800"/>
            <a:ext cx="1028700" cy="895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333333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4" idx="4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2914650" y="1447800"/>
            <a:ext cx="1314450" cy="1390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333333"/>
            </a:solidFill>
            <a:prstDash val="dash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5" idx="4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572250" y="1447800"/>
            <a:ext cx="1952625" cy="1390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333333"/>
            </a:solidFill>
            <a:prstDash val="dash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6" idx="4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8524875" y="1447800"/>
            <a:ext cx="390525" cy="895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333333"/>
            </a:solidFill>
            <a:prstDash val="dash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2914650" y="27241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3333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914650" y="3505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3333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2914650" y="40195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3333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2914650" y="48006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3333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4076700" y="2524125"/>
            <a:ext cx="2590800" cy="647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333333"/>
            </a:solidFill>
            <a:prstDash val="solid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4076700" y="2524125"/>
            <a:ext cx="2590800" cy="1943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333333"/>
            </a:solidFill>
            <a:prstDash val="solid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8524875" y="27051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3333"/>
            </a:solidFill>
            <a:prstDash val="solid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524875" y="32766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3333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8524875" y="37719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3333"/>
            </a:solidFill>
            <a:prstDash val="solid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524875" y="43053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3333"/>
            </a:solidFill>
            <a:prstDash val="solid"/>
            <a:tail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8524875" y="48387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3333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17" idx="4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2914650" y="5295900"/>
            <a:ext cx="3219450" cy="209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333333"/>
            </a:solidFill>
            <a:prstDash val="dash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23" idx="4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6134100" y="5295900"/>
            <a:ext cx="2390775" cy="209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333333"/>
            </a:solidFill>
            <a:prstDash val="dash"/>
            <a:tailEnd type="triangle" w="sm" len="sm"/>
          </a:ln>
        </p:spPr>
      </p:cxnSp>
      <p:sp>
        <p:nvSpPr>
          <p:cNvPr id="43" name="label-overlap-no">
            <a:extLst xmlns:a="http://schemas.openxmlformats.org/drawingml/2006/main">
              <a:ext uri="{FF2B5EF4-FFF2-40B4-BE49-F238E27FC236}">
                <a16:creationId xmlns:a16="http://schemas.microsoft.com/office/drawing/2014/main" id="{501E32E9-E604-435F-A3E2-7BC009B3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9567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44" name="label-overlap-yes">
            <a:extLst xmlns:a="http://schemas.openxmlformats.org/drawingml/2006/main">
              <a:ext uri="{FF2B5EF4-FFF2-40B4-BE49-F238E27FC236}">
                <a16:creationId xmlns:a16="http://schemas.microsoft.com/office/drawing/2014/main" id="{99CB9C06-54BC-4800-BC99-8825143D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622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是 · overlap</a:t>
            </a:r>
          </a:p>
        </p:txBody>
      </p:sp>
      <p:sp>
        <p:nvSpPr>
          <p:cNvPr id="45" name="label-split-no">
            <a:extLst xmlns:a="http://schemas.openxmlformats.org/drawingml/2006/main">
              <a:ext uri="{FF2B5EF4-FFF2-40B4-BE49-F238E27FC236}">
                <a16:creationId xmlns:a16="http://schemas.microsoft.com/office/drawing/2014/main" id="{E2663B25-AFBB-416C-B5F8-E767E938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9107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否 · regular</a:t>
            </a:r>
          </a:p>
        </p:txBody>
      </p:sp>
      <p:sp>
        <p:nvSpPr>
          <p:cNvPr id="46" name="label-split-yes">
            <a:extLst xmlns:a="http://schemas.openxmlformats.org/drawingml/2006/main">
              <a:ext uri="{FF2B5EF4-FFF2-40B4-BE49-F238E27FC236}">
                <a16:creationId xmlns:a16="http://schemas.microsoft.com/office/drawing/2014/main" id="{697D109B-3343-4DA1-B4EC-479D540B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是 · split</a:t>
            </a:r>
          </a:p>
        </p:txBody>
      </p:sp>
      <p:sp>
        <p:nvSpPr>
          <p:cNvPr id="4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7CAD881-1B42-4E4E-B4A0-8F4E4415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ABB6700 polishing experiment · experiments platform</a:t>
            </a:r>
          </a:p>
        </p:txBody>
      </p:sp>
      <p:sp>
        <p:nvSpPr>
          <p:cNvPr id="4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19B00DB-A2AF-4195-B549-840E8BD1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08 / 13</a:t>
            </a:r>
          </a:p>
        </p:txBody>
      </p:sp>
    </p:spTree>
    <p:extLst>
      <p:ext uri="{BB962C8B-B14F-4D97-AF65-F5344CB8AC3E}">
        <p14:creationId xmlns:p14="http://schemas.microsoft.com/office/powerpoint/2010/main" val="1634687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2026-08-04T08:10:08.1130000Z</dcterms:created>
  <dcterms:modified xsi:type="dcterms:W3CDTF">2026-08-04T08:10:08.1130000Z</dcterms:modified>
</coreProperties>
</file>